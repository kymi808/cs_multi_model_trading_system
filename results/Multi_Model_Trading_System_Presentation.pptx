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Multi-Model Cross-Sectional Equity Alpha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Calibri"/>
              </a:defRPr>
            </a:pPr>
            <a:r>
              <a:t>Comparative Analysis: LightGBM vs Time Series Transformer vs CrossMamba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S&amp;P 500 Universe  |  186 Features  |  Walk-Forward Backtest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February 2023 - February 2026  |  802 Trading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Market-Neutral (10L/10S) &amp; Long-Biased (14L/7S) Configurations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2286000" cy="11887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5102352"/>
            <a:ext cx="2011680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Sharpe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029200"/>
            <a:ext cx="2286000" cy="11887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5102352"/>
            <a:ext cx="2011680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30.24%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Annual Return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5029200"/>
            <a:ext cx="2286000" cy="11887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5102352"/>
            <a:ext cx="201168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-9.20%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Max Drawdown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5029200"/>
            <a:ext cx="2286000" cy="11887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5102352"/>
            <a:ext cx="2011680" cy="317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SPY Sharpe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81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System Architecture &amp; Design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96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Data Pipeline &amp;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107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Model Architectures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325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Walk-Forward Backtesting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239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Risk Management &amp; Portfolio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581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Results: Market-Neutral (10L/10S)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963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Results: Long-Biased (14L/7S)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107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Feature Importance &amp; Alpha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325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Architectural Insights &amp; 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239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Production Deployment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Cross-Sectional Ranking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Predicts </a:t>
            </a:r>
            <a:r>
              <a:rPr sz="1300" b="1">
                <a:solidFill>
                  <a:srgbClr val="CBD5E1"/>
                </a:solidFill>
                <a:latin typeface="Calibri"/>
              </a:rPr>
              <a:t>relative forward returns</a:t>
            </a:r>
            <a:r>
              <a:rPr sz="1300">
                <a:solidFill>
                  <a:srgbClr val="CBD5E1"/>
                </a:solidFill>
                <a:latin typeface="Calibri"/>
              </a:rPr>
              <a:t> (cross-sectional rank) not absolute returns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Eliminates market beta as a confound — ranks are distribution-free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Maps naturally to </a:t>
            </a:r>
            <a:r>
              <a:rPr sz="1300" b="1">
                <a:solidFill>
                  <a:srgbClr val="CBD5E1"/>
                </a:solidFill>
                <a:latin typeface="Calibri"/>
              </a:rPr>
              <a:t>long/short portfolio construction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Walk-forward design with </a:t>
            </a:r>
            <a:r>
              <a:rPr sz="1300" b="1">
                <a:solidFill>
                  <a:srgbClr val="CBD5E1"/>
                </a:solidFill>
                <a:latin typeface="Calibri"/>
              </a:rPr>
              <a:t>strict temporal separation</a:t>
            </a:r>
            <a:r>
              <a:rPr sz="1300">
                <a:solidFill>
                  <a:srgbClr val="CBD5E1"/>
                </a:solidFill>
                <a:latin typeface="Calibri"/>
              </a:rPr>
              <a:t> prevents leakage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Identical risk/portfolio pipeline for all models — apples-to-apples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Pipeline Stages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7647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Universe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659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S&amp;P 500, ~102 tickers after liquidity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59152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34086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420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186 features across 4 signal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35224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91693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1181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Stability-based IC → 50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11296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930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Walk-Forward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6941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504d train / 21d retrain / 10d purge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87368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0690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Factor Risk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2702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Barra-style: Σ = BFB′ + 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663440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64515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Portfolio Construction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8463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Risk-parity weighting, turnover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239512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2122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4223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Alpaca Markets API (paper + live)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Universe &amp; Data Specifications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Source: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S&amp;P 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Liquidity Filter: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≥$5M avg daily $ vol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Min History: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252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Tickers: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~102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Cross-Assets: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VIX, TNX, GLD, USO, HYG, TLT + 11 sector ETFs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Backtest: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Feb 2023 – Feb 2026 (802 days)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186 Features Across 4 Signal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651760" cy="4206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651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Price /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~100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Momentum: [5, 10, 21, 63, 126, 252]d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Volatility: realized vol at [5, 10, 21, 63]d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Mean reversion: distance from N-day high/low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381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Liquidity: Amihud illiquidity, log dollar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22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Technical: MACD, RSI(14), Bollinger Bands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All features also cross-sectionally ranked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417320"/>
            <a:ext cx="2651760" cy="4206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41732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Fundamental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~40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Valuation: P/E, EV/EBITDA, Price/Book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70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Quality: ROE, ROA, margins, current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0540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Growth: earnings growth, revenue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4381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Analyst: target upside,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822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Earnings day return (post-earnings drift)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Composite scores: value, quality, sector-relative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417320"/>
            <a:ext cx="2651760" cy="4206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417320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Cross-Asset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~36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VIX level, percentile rank, rate of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670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Yield curve slope: 10Y – 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0540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Credit spread: HYG/LQD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381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Sector ETF relative momentum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822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Dollar (UUP), Gold, Oil momentum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Risk-on/off: IWM/QQQ vs SPY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1417320"/>
            <a:ext cx="2651760" cy="420624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1417320"/>
            <a:ext cx="2651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Sentiment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1920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~10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News headline keyword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670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Positive/negative lexicon 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0540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Per-ticker sentiment aggregation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4381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 Source: yfinance news feed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760720"/>
            <a:ext cx="11155680" cy="82296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Stability-Based Feature Selection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Score = mean(|IC|) × sign_consistency   |   Data split into 3 time periods   |   IC sign must be consistent across periods   |   186 → 50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Gradient Boosted Decision Tree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Builds an ensemble of </a:t>
            </a:r>
            <a:r>
              <a:rPr sz="1300" b="1">
                <a:solidFill>
                  <a:srgbClr val="CBD5E1"/>
                </a:solidFill>
                <a:latin typeface="Calibri"/>
              </a:rPr>
              <a:t>800 shallow decision trees</a:t>
            </a:r>
            <a:r>
              <a:rPr sz="1300">
                <a:solidFill>
                  <a:srgbClr val="CBD5E1"/>
                </a:solidFill>
                <a:latin typeface="Calibri"/>
              </a:rPr>
              <a:t> sequentially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Each tree corrects the errors of the previous trees (gradient boosting)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Sees each (date, ticker) pair as an </a:t>
            </a:r>
            <a:r>
              <a:rPr sz="1300" b="1">
                <a:solidFill>
                  <a:srgbClr val="CBD5E1"/>
                </a:solidFill>
                <a:latin typeface="Calibri"/>
              </a:rPr>
              <a:t>independent 50-feature row</a:t>
            </a:r>
            <a:r>
              <a:rPr sz="1300">
                <a:solidFill>
                  <a:srgbClr val="CBD5E1"/>
                </a:solidFill>
                <a:latin typeface="Calibri"/>
              </a:rPr>
              <a:t> — no notion of 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Final prediction = sum of all tree outputs for that row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3 models</a:t>
            </a:r>
            <a:r>
              <a:rPr sz="1300">
                <a:solidFill>
                  <a:srgbClr val="CBD5E1"/>
                </a:solidFill>
                <a:latin typeface="Calibri"/>
              </a:rPr>
              <a:t> trained with different random seeds, predictions averaged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Natively handles missing values — learns optimal split direction for NaN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Produces interpretable </a:t>
            </a:r>
            <a:r>
              <a:rPr sz="1300" b="1">
                <a:solidFill>
                  <a:srgbClr val="CBD5E1"/>
                </a:solidFill>
                <a:latin typeface="Calibri"/>
              </a:rPr>
              <a:t>feature importance</a:t>
            </a:r>
            <a:r>
              <a:rPr sz="1300">
                <a:solidFill>
                  <a:srgbClr val="CBD5E1"/>
                </a:solidFill>
                <a:latin typeface="Calibri"/>
              </a:rPr>
              <a:t> via split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Key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F4444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Cannot model temporal dependencies</a:t>
            </a:r>
            <a:r>
              <a:rPr sz="1300">
                <a:solidFill>
                  <a:srgbClr val="CBD5E1"/>
                </a:solidFill>
                <a:latin typeface="Calibri"/>
              </a:rPr>
              <a:t> — treats every observation as i.i.d.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F4444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Misses patterns like "momentum accelerating over the last 5 of 21 days"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Configuration (Optuna-Optimized)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1737360"/>
          <a:ext cx="4846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Optimized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n_estimators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800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max_depth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learning_rate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0.030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0.051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num_leaves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min_child_samples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subsample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colsample_bytree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0.60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0.40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L1 regularization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1.44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L2 regularization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5.00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7.61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0" y="484632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937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Optuna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2578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Optimization pushed toward higher regularization (L2: 5→7.6) and lower feature sampling (0.6→0.4), suggesting the 50-feature space benefits from aggressive regularization to prevent overfitting.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Time Series Transformer (TST)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Multi-Head Self-Attention Over Rolling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Takes a </a:t>
            </a:r>
            <a:r>
              <a:rPr sz="1300" b="1">
                <a:solidFill>
                  <a:srgbClr val="CBD5E1"/>
                </a:solidFill>
                <a:latin typeface="Calibri"/>
              </a:rPr>
              <a:t>21-day rolling window</a:t>
            </a:r>
            <a:r>
              <a:rPr sz="1300">
                <a:solidFill>
                  <a:srgbClr val="CBD5E1"/>
                </a:solidFill>
                <a:latin typeface="Calibri"/>
              </a:rPr>
              <a:t> of 50 features per stock as input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Projects each day's features into a 64-dimensional representation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Adds </a:t>
            </a:r>
            <a:r>
              <a:rPr sz="1300" b="1">
                <a:solidFill>
                  <a:srgbClr val="CBD5E1"/>
                </a:solidFill>
                <a:latin typeface="Calibri"/>
              </a:rPr>
              <a:t>positional encoding</a:t>
            </a:r>
            <a:r>
              <a:rPr sz="1300">
                <a:solidFill>
                  <a:srgbClr val="CBD5E1"/>
                </a:solidFill>
                <a:latin typeface="Calibri"/>
              </a:rPr>
              <a:t> so the model knows the temporal ordering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Passes through </a:t>
            </a:r>
            <a:r>
              <a:rPr sz="1300" b="1">
                <a:solidFill>
                  <a:srgbClr val="CBD5E1"/>
                </a:solidFill>
                <a:latin typeface="Calibri"/>
              </a:rPr>
              <a:t>2 Transformer encoder layers</a:t>
            </a:r>
            <a:r>
              <a:rPr sz="1300">
                <a:solidFill>
                  <a:srgbClr val="CBD5E1"/>
                </a:solidFill>
                <a:latin typeface="Calibri"/>
              </a:rPr>
              <a:t> with 4 attention heads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Self-attention lets each day "look at" every other day in the window, learning which past days are most relevant for today's prediction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Uses the </a:t>
            </a:r>
            <a:r>
              <a:rPr sz="1300" b="1">
                <a:solidFill>
                  <a:srgbClr val="CBD5E1"/>
                </a:solidFill>
                <a:latin typeface="Calibri"/>
              </a:rPr>
              <a:t>last time step's representation</a:t>
            </a:r>
            <a:r>
              <a:rPr sz="1300">
                <a:solidFill>
                  <a:srgbClr val="CBD5E1"/>
                </a:solidFill>
                <a:latin typeface="Calibri"/>
              </a:rPr>
              <a:t> as a summary of the entire sequence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An output head (two linear layers with ReLU) maps this to a </a:t>
            </a:r>
            <a:r>
              <a:rPr sz="1300" b="1">
                <a:solidFill>
                  <a:srgbClr val="CBD5E1"/>
                </a:solidFill>
                <a:latin typeface="Calibri"/>
              </a:rPr>
              <a:t>scalar ranking score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2 models</a:t>
            </a:r>
            <a:r>
              <a:rPr sz="1300">
                <a:solidFill>
                  <a:srgbClr val="CBD5E1"/>
                </a:solidFill>
                <a:latin typeface="Calibri"/>
              </a:rPr>
              <a:t> ensembled with different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Configuration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73736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2909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d_model (hidden dim)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Attention heads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Encoder layers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Feedforward dim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Sequence length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21 days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Dropout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Optimizer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AdamW (lr=1e-3)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256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09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Gradient clipping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max_norm=1.0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94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Captures cross-time dependencies</a:t>
            </a:r>
            <a:br/>
            <a:r>
              <a:t>•  Learns which past days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Weakness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394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O(L²) complexity — quadratic</a:t>
            </a:r>
            <a:br/>
            <a:r>
              <a:t>    in sequence length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CrossMamba (Selective State-Space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Linear-Time Sequence Modeling with Selective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Like TST, takes a </a:t>
            </a:r>
            <a:r>
              <a:rPr sz="1200" b="1">
                <a:solidFill>
                  <a:srgbClr val="CBD5E1"/>
                </a:solidFill>
                <a:latin typeface="Calibri"/>
              </a:rPr>
              <a:t>21-day rolling window</a:t>
            </a:r>
            <a:r>
              <a:rPr sz="1200">
                <a:solidFill>
                  <a:srgbClr val="CBD5E1"/>
                </a:solidFill>
                <a:latin typeface="Calibri"/>
              </a:rPr>
              <a:t> of 50 features per stock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Instead of attention, uses a </a:t>
            </a:r>
            <a:r>
              <a:rPr sz="1200" b="1">
                <a:solidFill>
                  <a:srgbClr val="CBD5E1"/>
                </a:solidFill>
                <a:latin typeface="Calibri"/>
              </a:rPr>
              <a:t>selective state-space model (SSM)</a:t>
            </a:r>
            <a:r>
              <a:rPr sz="1200">
                <a:solidFill>
                  <a:srgbClr val="CBD5E1"/>
                </a:solidFill>
                <a:latin typeface="Calibri"/>
              </a:rPr>
              <a:t> — a recurrent hidden state that evolves across time steps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The key idea: </a:t>
            </a:r>
            <a:r>
              <a:rPr sz="1200" b="1">
                <a:solidFill>
                  <a:srgbClr val="CBD5E1"/>
                </a:solidFill>
                <a:latin typeface="Calibri"/>
              </a:rPr>
              <a:t>how much to remember vs forget at each step is input-dependent</a:t>
            </a:r>
            <a:r>
              <a:rPr sz="1200">
                <a:solidFill>
                  <a:srgbClr val="CBD5E1"/>
                </a:solidFill>
                <a:latin typeface="Calibri"/>
              </a:rPr>
              <a:t>. The model learns to selectively retain useful past information and discard noise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A </a:t>
            </a:r>
            <a:r>
              <a:rPr sz="1200" b="1">
                <a:solidFill>
                  <a:srgbClr val="CBD5E1"/>
                </a:solidFill>
                <a:latin typeface="Calibri"/>
              </a:rPr>
              <a:t>depthwise convolution</a:t>
            </a:r>
            <a:r>
              <a:rPr sz="1200">
                <a:solidFill>
                  <a:srgbClr val="CBD5E1"/>
                </a:solidFill>
                <a:latin typeface="Calibri"/>
              </a:rPr>
              <a:t> (kernel=4) captures local patterns (3–4 day effects) while the hidden state carries longer-range regime information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Uses a </a:t>
            </a:r>
            <a:r>
              <a:rPr sz="1200" b="1">
                <a:solidFill>
                  <a:srgbClr val="CBD5E1"/>
                </a:solidFill>
                <a:latin typeface="Calibri"/>
              </a:rPr>
              <a:t>dual-path gating mechanism</a:t>
            </a:r>
            <a:r>
              <a:rPr sz="1200">
                <a:solidFill>
                  <a:srgbClr val="CBD5E1"/>
                </a:solidFill>
                <a:latin typeface="Calibri"/>
              </a:rPr>
              <a:t>: one path processes the sequence through the SSM, the other acts as a learned gate that filters the output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Stacks </a:t>
            </a:r>
            <a:r>
              <a:rPr sz="1200" b="1">
                <a:solidFill>
                  <a:srgbClr val="CBD5E1"/>
                </a:solidFill>
                <a:latin typeface="Calibri"/>
              </a:rPr>
              <a:t>2 CrossMamba blocks</a:t>
            </a:r>
            <a:r>
              <a:rPr sz="1200">
                <a:solidFill>
                  <a:srgbClr val="CBD5E1"/>
                </a:solidFill>
                <a:latin typeface="Calibri"/>
              </a:rPr>
              <a:t>, each with SSM + feedforward network + residual connections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Processes sequences in </a:t>
            </a:r>
            <a:r>
              <a:rPr sz="1200" b="1">
                <a:solidFill>
                  <a:srgbClr val="CBD5E1"/>
                </a:solidFill>
                <a:latin typeface="Calibri"/>
              </a:rPr>
              <a:t>O(L) linear time</a:t>
            </a:r>
            <a:r>
              <a:rPr sz="1200">
                <a:solidFill>
                  <a:srgbClr val="CBD5E1"/>
                </a:solidFill>
                <a:latin typeface="Calibri"/>
              </a:rPr>
              <a:t> vs O(L²) for Transformers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Configuration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737360"/>
          <a:ext cx="48463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2834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d_model (hidden dim)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d_state (SSM state)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d_conv (conv kernel)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Expand factor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Layers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Sequence length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21 days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Dropout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Optimizer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AdamW (lr=1e-3)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Model size on disk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582 KB (smallest)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4754880"/>
            <a:ext cx="4846320" cy="16459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846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Why CrossMamba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120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Selective forgetting</a:t>
            </a:r>
            <a:r>
              <a:rPr sz="1100">
                <a:solidFill>
                  <a:srgbClr val="CBD5E1"/>
                </a:solidFill>
                <a:latin typeface="Calibri"/>
              </a:rPr>
              <a:t>: learns which past data is relevant — critical for noisy financial data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Local + global context</a:t>
            </a:r>
            <a:r>
              <a:rPr sz="1100">
                <a:solidFill>
                  <a:srgbClr val="CBD5E1"/>
                </a:solidFill>
                <a:latin typeface="Calibri"/>
              </a:rPr>
              <a:t>: conv captures microstructure; hidden state captures regime persistence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Linear time</a:t>
            </a:r>
            <a:r>
              <a:rPr sz="1100">
                <a:solidFill>
                  <a:srgbClr val="CBD5E1"/>
                </a:solidFill>
                <a:latin typeface="Calibri"/>
              </a:rPr>
              <a:t>: O(L) enables scaling to longer sequences without quadratic blowup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Three Paradigms for Modeling Financial Time Series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3017520"/>
                <a:gridCol w="301752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TST (Transformer)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CrossMamba (SSM)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Paradigm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Gradient boosted trees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Self-attention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Selective state-space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(N, 50) flat rows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(N, 21, 50) sequences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(N, 21, 50) sequences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Temporal modeling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Full attention matrix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Recurrent hidden state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Time complexity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O(n log n)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O(L² × d)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O(L × d)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How it handles history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Ignores it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Looks at all pairs of days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Carries a memory state forward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Forgetting mechanism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Implicit (re-weighting)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Explicit (learned decay)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Local patterns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 built-in local bias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Depthwise conv (k=4)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Gating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Yes (dual-path SiLU)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Model size (disk)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1.2 MB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839 KB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582 KB (smallest)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Training speed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Fast (~seconds)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Moderate (~minutes)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Moderate (~minutes)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Feature importance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Split gain (native)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Gradient-based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Gradient-based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Walk-Forward Backtesting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Anti-Leakage Design with Purge &amp; Embargo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6459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965960"/>
            <a:ext cx="502920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504d Train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6596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10d Purge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965960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5d Embargo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9659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21d OOS 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Each retrain: train on trailing 504 days → purge 10d gap → embargo 5d → predict next 21 days → slide window forward and repeat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20040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669280"/>
              </a:tblGrid>
              <a:tr h="3383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Train window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504 days (~2 years)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Sufficient regime diversity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Retrain frequency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21 days (monthly)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Balances recency vs stability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Purge gap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 days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Prevents target leakage (overlapping fwd returns)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Embargo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 days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Buffer for serial correlation in returns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Target horizon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 days forward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Balances signal strength vs data points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Target type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Cross-sectional rank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Distribution-free, market-neutral by design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Validation split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20% of train window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For early stopping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Early stopping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50 rounds (LightGBM)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Prevents overfitting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Walk-forward windows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~38 over 3.18 years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Comprehensive OOS coverage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Management &amp; Portfolio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Barra-Style Factor Model + Multi-Layer Risk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Risk Pipeline (Applied Sequentially)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64792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Sector Neutralization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84248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Max ±3% net per sector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41448"/>
            <a:ext cx="347472" cy="347472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23160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Factor Neutralization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42616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Reduce Barra factor tilts toward zero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99816"/>
            <a:ext cx="347472" cy="347472"/>
          </a:xfrm>
          <a:prstGeom prst="roundRect">
            <a:avLst>
              <a:gd name="adj" fmla="val 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81528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Volatility Targeting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00984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10% (mkt-neutral) / 15% (long-biased)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58184"/>
            <a:ext cx="347472" cy="347472"/>
          </a:xfrm>
          <a:prstGeom prst="roundRect">
            <a:avLst>
              <a:gd name="adj" fmla="val 2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739896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Drawdown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59352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Scale down 50% if drawdown &gt; -8%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16552"/>
            <a:ext cx="347472" cy="347472"/>
          </a:xfrm>
          <a:prstGeom prst="roundRect">
            <a:avLst>
              <a:gd name="adj" fmla="val 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98264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Position Clipping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617720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Max 10% per name, top-N long/short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74920"/>
            <a:ext cx="347472" cy="347472"/>
          </a:xfrm>
          <a:prstGeom prst="roundRect">
            <a:avLst>
              <a:gd name="adj" fmla="val 2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56632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Regime Overlay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276088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50d/200d MA trend, max ±15%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Portfolio Configuration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0" y="173736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Market-Neutral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Long-Biased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Positions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 Long / 10 Short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14 Long / 7 Short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Max position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Max gross leverage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1.6×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1.6×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Net exposure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±15%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~33%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Weighting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Risk-parity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Risk-parity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Vol target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10% annual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15% annual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Turnover penalty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0.1% score boost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0.1% score boost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58368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Transaction Cost Model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583680" y="4892040"/>
          <a:ext cx="3200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(bps)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Commission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0.5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Slippage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2.0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Total per side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5.5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Round trip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11.0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4008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Barra Factor Model: Σ = BFB′ +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factors: Market, Size, Value, Momentum, Volatility, Quality</a:t>
            </a:r>
            <a:br/>
            <a:r>
              <a:t>Covariance estimated with exponential decay (halflife=63d)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Market-Neutral (10L/10S)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February 2023 – February 2026  |  802 Trading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25880"/>
                <a:gridCol w="1325880"/>
                <a:gridCol w="1325880"/>
                <a:gridCol w="1325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TST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CrossMamba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Ensemble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Total Return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17.29%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25.48%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61.12%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54.83%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Annual Return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5.14%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7.39%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16.17%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14.73%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Volatility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7.65%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7.24%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7.71%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7.58%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Sharpe Ratio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1.02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2.10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1.94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Sortino Ratio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1.09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1.68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3.61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3.23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Max Drawdown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-12.89%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-10.70%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-5.93%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-10.56%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Calmar Ratio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0.40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0.69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2.73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1.39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Win Rate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50.50%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52.99%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53.24%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54.86%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Profit Factor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1.12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1.18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1.37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1.35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CrossMamba dominates</a:t>
            </a:r>
            <a:r>
              <a:rPr sz="1200">
                <a:solidFill>
                  <a:srgbClr val="CBD5E1"/>
                </a:solidFill>
                <a:latin typeface="Calibri"/>
              </a:rPr>
              <a:t>: 2.10 Sharpe, 3× the return of LightGBM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CrossMamba achieves the </a:t>
            </a:r>
            <a:r>
              <a:rPr sz="1200" b="1">
                <a:solidFill>
                  <a:srgbClr val="CBD5E1"/>
                </a:solidFill>
                <a:latin typeface="Calibri"/>
              </a:rPr>
              <a:t>tightest drawdown</a:t>
            </a:r>
            <a:r>
              <a:rPr sz="1200">
                <a:solidFill>
                  <a:srgbClr val="CBD5E1"/>
                </a:solidFill>
                <a:latin typeface="Calibri"/>
              </a:rPr>
              <a:t> (-5.93%) — less than half of LightGBM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TST</a:t>
            </a:r>
            <a:r>
              <a:rPr sz="1200">
                <a:solidFill>
                  <a:srgbClr val="CBD5E1"/>
                </a:solidFill>
                <a:latin typeface="Calibri"/>
              </a:rPr>
              <a:t> shows meaningful improvement over LightGBM (1.02 vs 0.67 Sharpe) but well below CrossMamba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Ensemble paradox</a:t>
            </a:r>
            <a:r>
              <a:rPr sz="1200">
                <a:solidFill>
                  <a:srgbClr val="CBD5E1"/>
                </a:solidFill>
                <a:latin typeface="Calibri"/>
              </a:rPr>
              <a:t>: equal-weight blend (1.94) underperforms best individual model (2.10)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B82F6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>All models target </a:t>
            </a:r>
            <a:r>
              <a:rPr sz="1200" b="1">
                <a:solidFill>
                  <a:srgbClr val="CBD5E1"/>
                </a:solidFill>
                <a:latin typeface="Calibri"/>
              </a:rPr>
              <a:t>~7.5% realized vol</a:t>
            </a:r>
            <a:r>
              <a:rPr sz="1200">
                <a:solidFill>
                  <a:srgbClr val="CBD5E1"/>
                </a:solidFill>
                <a:latin typeface="Calibri"/>
              </a:rPr>
              <a:t>, confirming risk management works 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468112"/>
            <a:ext cx="2331720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Sharpe (CrossMamba)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5468112"/>
            <a:ext cx="233172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-5.93%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Max DD (CrossMamba)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5468112"/>
            <a:ext cx="2331720" cy="317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54.86%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Win Rate (Ensemble)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5468112"/>
            <a:ext cx="2331720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0.103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Rank IC (LightGBM)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Long-Biased (14L/7S)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February 2023 – February 2026  |  802 Trading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79552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LightGBM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TST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CrossMamba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Ensemble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SPY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Total Return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85.40%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128.96%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131.84%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122.27%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~76%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Annual Return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21.41%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29.73%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30.24%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28.53%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20.29%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Volatility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13.70%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12.86%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12.80%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13.64%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~15.2%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Sharpe Ratio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1.56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2.31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2.36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2.09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1.34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Sortino Ratio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2.46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3.83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3.97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3.49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Max Drawdown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-20.25%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-9.31%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-9.20%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-15.44%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-18.76%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Calmar Ratio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1.06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3.19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3.29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1.85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Win Rate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54.24%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55.99%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54.36%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55.24%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Profit Factor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1.27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1.40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1.42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1.37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0" y="1371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7373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All models beat SPY</a:t>
            </a:r>
            <a:r>
              <a:rPr sz="1100">
                <a:solidFill>
                  <a:srgbClr val="CBD5E1"/>
                </a:solidFill>
                <a:latin typeface="Calibri"/>
              </a:rPr>
              <a:t> on return and risk-adjusted basis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>CrossMamba: </a:t>
            </a:r>
            <a:r>
              <a:rPr sz="1100" b="1">
                <a:solidFill>
                  <a:srgbClr val="CBD5E1"/>
                </a:solidFill>
                <a:latin typeface="Calibri"/>
              </a:rPr>
              <a:t>131.8% total</a:t>
            </a:r>
            <a:r>
              <a:rPr sz="1100">
                <a:solidFill>
                  <a:srgbClr val="CBD5E1"/>
                </a:solidFill>
                <a:latin typeface="Calibri"/>
              </a:rPr>
              <a:t> (vs SPY ~76%) with </a:t>
            </a:r>
            <a:r>
              <a:rPr sz="1100" b="1">
                <a:solidFill>
                  <a:srgbClr val="CBD5E1"/>
                </a:solidFill>
                <a:latin typeface="Calibri"/>
              </a:rPr>
              <a:t>half</a:t>
            </a:r>
            <a:r>
              <a:rPr sz="1100">
                <a:solidFill>
                  <a:srgbClr val="CBD5E1"/>
                </a:solidFill>
                <a:latin typeface="Calibri"/>
              </a:rPr>
              <a:t> the drawdown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>TST nearly ties CrossMamba — both achieve </a:t>
            </a:r>
            <a:r>
              <a:rPr sz="1100" b="1">
                <a:solidFill>
                  <a:srgbClr val="CBD5E1"/>
                </a:solidFill>
                <a:latin typeface="Calibri"/>
              </a:rPr>
              <a:t>~2.35 Sharpe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>LightGBM captures market beta but adds </a:t>
            </a:r>
            <a:r>
              <a:rPr sz="1100" b="1">
                <a:solidFill>
                  <a:srgbClr val="CBD5E1"/>
                </a:solidFill>
                <a:latin typeface="Calibri"/>
              </a:rPr>
              <a:t>minimal alpha</a:t>
            </a:r>
            <a:r>
              <a:rPr sz="1100">
                <a:solidFill>
                  <a:srgbClr val="CBD5E1"/>
                </a:solidFill>
                <a:latin typeface="Calibri"/>
              </a:rPr>
              <a:t> (+1.1% over SPY)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>Long-biased dramatically improves all models by capturing the </a:t>
            </a:r>
            <a:r>
              <a:rPr sz="1100" b="1">
                <a:solidFill>
                  <a:srgbClr val="CBD5E1"/>
                </a:solidFill>
                <a:latin typeface="Calibri"/>
              </a:rPr>
              <a:t>equity risk premium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468112"/>
            <a:ext cx="2331720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+9.95%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CrossMamba Alpha — vs SPY annual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5468112"/>
            <a:ext cx="2331720" cy="31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+9.44%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TST Alpha — vs SPY annual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5468112"/>
            <a:ext cx="233172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CrossMamba Sharpe — vs SPY 1.34 (+76%)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5394960"/>
            <a:ext cx="260604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5468112"/>
            <a:ext cx="2331720" cy="317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5623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-9.20%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1722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Max DD Improvement — vs SPY -18.76%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Importance &amp; Alpha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Top Predictive Features by LightGBM Split 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926080"/>
                <a:gridCol w="731520"/>
                <a:gridCol w="2651760"/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Gain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Earnings day return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79.0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Fundamental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63d volatility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60.7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CS vol rank (63d)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54.7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Distance from 252d high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51.7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21d volatility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51.3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Amihud illiquidity (21d)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44.0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MACD histogram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43.3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CS momentum rank (63d)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43.0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Momentum acceleration (63d)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42.3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CS Amihud illiquidity (21d)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41.3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Log market cap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40.3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Fundamental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Distance from 252d high (raw)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39.0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CS earnings growth rank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38.3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Fundamental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Distance from 63d high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37.3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CS Bollinger Band width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37.0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Alpha Source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Earnings day return</a:t>
            </a:r>
            <a:r>
              <a:rPr sz="1100">
                <a:solidFill>
                  <a:srgbClr val="CBD5E1"/>
                </a:solidFill>
                <a:latin typeface="Calibri"/>
              </a:rPr>
              <a:t> (#1): Post-earnings announcement drift — stocks with positive surprises continue to outperform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Volatility cluster</a:t>
            </a:r>
            <a:r>
              <a:rPr sz="1100">
                <a:solidFill>
                  <a:srgbClr val="CBD5E1"/>
                </a:solidFill>
                <a:latin typeface="Calibri"/>
              </a:rPr>
              <a:t> (#2-3, #5): Low-volatility anomaly captured across multiple horizons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Mean reversion</a:t>
            </a:r>
            <a:r>
              <a:rPr sz="1100">
                <a:solidFill>
                  <a:srgbClr val="CBD5E1"/>
                </a:solidFill>
                <a:latin typeface="Calibri"/>
              </a:rPr>
              <a:t> (#4, #12, #14): Distance from highs identifies oversold conditions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Liquidity premium</a:t>
            </a:r>
            <a:r>
              <a:rPr sz="1100">
                <a:solidFill>
                  <a:srgbClr val="CBD5E1"/>
                </a:solidFill>
                <a:latin typeface="Calibri"/>
              </a:rPr>
              <a:t> (#6, #10): Amihud ratio captures higher expected returns from liquidity risk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B82F6"/>
                </a:solidFill>
                <a:latin typeface="Calibri"/>
              </a:rPr>
              <a:t>•  </a:t>
            </a:r>
            <a:r>
              <a:rPr sz="1100">
                <a:solidFill>
                  <a:srgbClr val="CBD5E1"/>
                </a:solidFill>
                <a:latin typeface="Calibri"/>
              </a:rPr>
              <a:t/>
            </a:r>
            <a:r>
              <a:rPr sz="1100" b="1">
                <a:solidFill>
                  <a:srgbClr val="CBD5E1"/>
                </a:solidFill>
                <a:latin typeface="Calibri"/>
              </a:rPr>
              <a:t>Momentum + acceleration</a:t>
            </a:r>
            <a:r>
              <a:rPr sz="1100">
                <a:solidFill>
                  <a:srgbClr val="CBD5E1"/>
                </a:solidFill>
                <a:latin typeface="Calibri"/>
              </a:rPr>
              <a:t> (#8-9): 63d intermediate momentum with trend inflection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663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Signal Domain Breakdown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55279" y="4983480"/>
          <a:ext cx="3840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 in Top 50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Gain Share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Price/Volume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~65%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Fundamental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~35%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Cross-Asset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Selected, low direct gain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Sentiment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Selected, low direct gain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Architectural Insights &amp;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Why Sequence Models Dominate Tree Ensembles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LightGBM treats each observation as </a:t>
            </a:r>
            <a:r>
              <a:rPr sz="1300" b="1">
                <a:solidFill>
                  <a:srgbClr val="CBD5E1"/>
                </a:solidFill>
                <a:latin typeface="Calibri"/>
              </a:rPr>
              <a:t>independent</a:t>
            </a:r>
            <a:r>
              <a:rPr sz="1300">
                <a:solidFill>
                  <a:srgbClr val="CBD5E1"/>
                </a:solidFill>
                <a:latin typeface="Calibri"/>
              </a:rPr>
              <a:t> — it cannot learn that momentum accelerating over the last 5 of 21 days carries different meaning than uniform momentum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TST and CrossMamba process </a:t>
            </a:r>
            <a:r>
              <a:rPr sz="1300" b="1">
                <a:solidFill>
                  <a:srgbClr val="CBD5E1"/>
                </a:solidFill>
                <a:latin typeface="Calibri"/>
              </a:rPr>
              <a:t>21-day sequences</a:t>
            </a:r>
            <a:r>
              <a:rPr sz="1300">
                <a:solidFill>
                  <a:srgbClr val="CBD5E1"/>
                </a:solidFill>
                <a:latin typeface="Calibri"/>
              </a:rPr>
              <a:t>, explicitly capturing how features evolve over 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Result: </a:t>
            </a:r>
            <a:r>
              <a:rPr sz="1300" b="1">
                <a:solidFill>
                  <a:srgbClr val="CBD5E1"/>
                </a:solidFill>
                <a:latin typeface="Calibri"/>
              </a:rPr>
              <a:t>2–3× Sharpe improvement</a:t>
            </a:r>
            <a:r>
              <a:rPr sz="1300">
                <a:solidFill>
                  <a:srgbClr val="CBD5E1"/>
                </a:solidFill>
                <a:latin typeface="Calibri"/>
              </a:rPr>
              <a:t> from temporal modeling alone, with identical features and risk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Why CrossMamba Edges Out TST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Selective forgetting</a:t>
            </a:r>
            <a:r>
              <a:rPr sz="1300">
                <a:solidFill>
                  <a:srgbClr val="CBD5E1"/>
                </a:solidFill>
                <a:latin typeface="Calibri"/>
              </a:rPr>
              <a:t>: learns which past data matters — financial data is noisy, so knowing what to ignore is as valuable as knowing what to attend to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Local + global context</a:t>
            </a:r>
            <a:r>
              <a:rPr sz="1300">
                <a:solidFill>
                  <a:srgbClr val="CBD5E1"/>
                </a:solidFill>
                <a:latin typeface="Calibri"/>
              </a:rPr>
              <a:t>: depthwise conv captures short-term patterns (3–4 day effects) while hidden state carries regime information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Computational efficiency</a:t>
            </a:r>
            <a:r>
              <a:rPr sz="1300">
                <a:solidFill>
                  <a:srgbClr val="CBD5E1"/>
                </a:solidFill>
                <a:latin typeface="Calibri"/>
              </a:rPr>
              <a:t>: O(L) vs O(L²) unlocks potential for longer input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Sharpe Ratio by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CrossMamba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74520"/>
            <a:ext cx="3280135" cy="25603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26854" y="1828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TST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468880"/>
            <a:ext cx="3210641" cy="25603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57360" y="2423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2.31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063240"/>
            <a:ext cx="2904865" cy="256032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51584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2.09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11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657600"/>
            <a:ext cx="2168225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14944" y="3611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1.56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SPY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251960"/>
            <a:ext cx="1862449" cy="256032"/>
          </a:xfrm>
          <a:prstGeom prst="roundRect">
            <a:avLst>
              <a:gd name="adj" fmla="val 3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9168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1.34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463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Long-biased (14L/7S) configuration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120640"/>
            <a:ext cx="4846320" cy="137160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5212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The Ensemble Paradox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5321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Equal-weight ensemble (34/33/33) underperforms CrossMamba in both regimes. LightGBM's weaker signal dilutes the blend. Naive diversification across architectures does not guarantee improvement when model quality is heterogeneous.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Risk-Adjusted Performance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Drawdown Analysis &amp; Factor Risk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Maximum Drawdown Comparison (Long-Biased)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  <a:latin typeface="Calibri"/>
              </a:defRPr>
            </a:pPr>
            <a:r>
              <a:t>CrossMamba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874520"/>
            <a:ext cx="1682496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2816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-9.20%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  <a:latin typeface="Calibri"/>
              </a:defRPr>
            </a:pPr>
            <a:r>
              <a:t>TST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514600"/>
            <a:ext cx="1702612" cy="27432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2932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-9.31%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154680"/>
            <a:ext cx="2823667" cy="27432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3987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-15.44%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  <a:latin typeface="Calibri"/>
              </a:defRPr>
            </a:pPr>
            <a:r>
              <a:t>SPY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794760"/>
            <a:ext cx="3430828" cy="274320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1148" y="3749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-18.76%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4434840"/>
            <a:ext cx="370332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389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-20.25%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CrossMamba and TST achieve half the drawdown of SPY while delivering ~50% higher annualized returns. This is the hallmark of genuine alpha: better returns with less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Factor Risk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Latest portfolio snapshot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858000" y="2103120"/>
          <a:ext cx="4389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Total portfolio vol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9.44%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Factor-driven vol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1.62%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Specific (idiosyncratic) vol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9.30%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Factor share of total risk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~3%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Factor Exposures (σ)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858000" y="4251960"/>
          <a:ext cx="4754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256032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 marL="50800" marR="50800" marT="25400" marB="25400">
                    <a:solidFill>
                      <a:srgbClr val="8B5C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Market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+0.030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Near-zero beta (neutral achieved)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-0.174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Slight small-cap tilt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+0.156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Moderate value tilt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Momentum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+0.152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Moderate momentum tilt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Volatility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+0.068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Near-neutral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Quality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-0.094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Slight negative quality tilt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029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Production Deployment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19050"/>
          </a:xfrm>
          <a:prstGeom prst="rect">
            <a:avLst/>
          </a:prstGeom>
          <a:solidFill>
            <a:srgbClr val="2D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Live Trading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Broker</a:t>
            </a:r>
            <a:r>
              <a:rPr sz="1300">
                <a:solidFill>
                  <a:srgbClr val="CBD5E1"/>
                </a:solidFill>
                <a:latin typeface="Calibri"/>
              </a:rPr>
              <a:t>: Alpaca Markets (paper trading validated, live-ready)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Order type</a:t>
            </a:r>
            <a:r>
              <a:rPr sz="1300">
                <a:solidFill>
                  <a:srgbClr val="CBD5E1"/>
                </a:solidFill>
                <a:latin typeface="Calibri"/>
              </a:rPr>
              <a:t>: Limit orders with 5 bps offset from mid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Rebalance frequency</a:t>
            </a:r>
            <a:r>
              <a:rPr sz="1300">
                <a:solidFill>
                  <a:srgbClr val="CBD5E1"/>
                </a:solidFill>
                <a:latin typeface="Calibri"/>
              </a:rPr>
              <a:t>: Every 21 trading days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/>
            </a:r>
            <a:r>
              <a:rPr sz="1300" b="1">
                <a:solidFill>
                  <a:srgbClr val="CBD5E1"/>
                </a:solidFill>
                <a:latin typeface="Calibri"/>
              </a:rPr>
              <a:t>Paper trade validated</a:t>
            </a:r>
            <a:r>
              <a:rPr sz="1300">
                <a:solidFill>
                  <a:srgbClr val="CBD5E1"/>
                </a:solidFill>
                <a:latin typeface="Calibri"/>
              </a:rPr>
              <a:t>: 14 long + 7 short positions submitted Feb 24, 2026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CBD5E1"/>
                </a:solidFill>
                <a:latin typeface="Calibri"/>
              </a:rPr>
              <a:t>All order fills confirmed via Alpaca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Latest Signal Sample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251960"/>
          <a:ext cx="4114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Ticker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 marL="50800" marR="50800" marT="25400" marB="25400"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LONG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ACN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10.0%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LONG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HUM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10.0%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LONG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SCHW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9.7%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LONG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AXP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9.0%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LONG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SPGI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SHORT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PCAR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-6.7%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SHORT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TXN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-5.9%</a:t>
                      </a:r>
                    </a:p>
                  </a:txBody>
                  <a:tcPr anchor="ctr" marL="50800" marR="50800" marT="25400" marB="25400">
                    <a:solidFill>
                      <a:srgbClr val="1621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SHORT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SLB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-4.0%</a:t>
                      </a:r>
                    </a:p>
                  </a:txBody>
                  <a:tcPr anchor="ctr" marL="50800" marR="50800" marT="25400" marB="25400">
                    <a:solidFill>
                      <a:srgbClr val="1A254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Caveats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F4444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Survivorship bias</a:t>
            </a:r>
            <a:r>
              <a:rPr sz="1200">
                <a:solidFill>
                  <a:srgbClr val="CBD5E1"/>
                </a:solidFill>
                <a:latin typeface="Calibri"/>
              </a:rPr>
              <a:t>: universe based on current S&amp;P 500 — delisted stocks not included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F4444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Backtest period</a:t>
            </a:r>
            <a:r>
              <a:rPr sz="1200">
                <a:solidFill>
                  <a:srgbClr val="CBD5E1"/>
                </a:solidFill>
                <a:latin typeface="Calibri"/>
              </a:rPr>
              <a:t>: 3.18 years in a generally bullish market; bear regime coverage limited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F4444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Capacity</a:t>
            </a:r>
            <a:r>
              <a:rPr sz="1200">
                <a:solidFill>
                  <a:srgbClr val="CBD5E1"/>
                </a:solidFill>
                <a:latin typeface="Calibri"/>
              </a:rPr>
              <a:t>: tested at $100K AUM — behavior at scale (&gt;$10M) is untested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Learned ensemble weights</a:t>
            </a:r>
            <a:r>
              <a:rPr sz="1200">
                <a:solidFill>
                  <a:srgbClr val="CBD5E1"/>
                </a:solidFill>
                <a:latin typeface="Calibri"/>
              </a:rPr>
              <a:t>: stacking or attention-weighted blending instead of equal weights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Sequence length ablation</a:t>
            </a:r>
            <a:r>
              <a:rPr sz="1200">
                <a:solidFill>
                  <a:srgbClr val="CBD5E1"/>
                </a:solidFill>
                <a:latin typeface="Calibri"/>
              </a:rPr>
              <a:t>: CrossMamba may benefit from 63d or 126d windows (O(L) enables this)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Cross-stock attention</a:t>
            </a:r>
            <a:r>
              <a:rPr sz="1200">
                <a:solidFill>
                  <a:srgbClr val="CBD5E1"/>
                </a:solidFill>
                <a:latin typeface="Calibri"/>
              </a:rPr>
              <a:t>: model contagion and momentum spillover between related stocks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Alternative targets</a:t>
            </a:r>
            <a:r>
              <a:rPr sz="1200">
                <a:solidFill>
                  <a:srgbClr val="CBD5E1"/>
                </a:solidFill>
                <a:latin typeface="Calibri"/>
              </a:rPr>
              <a:t>: volatility-adjusted returns, drawdown probability prediction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59E0B"/>
                </a:solidFill>
                <a:latin typeface="Calibri"/>
              </a:rPr>
              <a:t>•  </a:t>
            </a:r>
            <a:r>
              <a:rPr sz="1200">
                <a:solidFill>
                  <a:srgbClr val="CBD5E1"/>
                </a:solidFill>
                <a:latin typeface="Calibri"/>
              </a:rPr>
              <a:t/>
            </a:r>
            <a:r>
              <a:rPr sz="1200" b="1">
                <a:solidFill>
                  <a:srgbClr val="CBD5E1"/>
                </a:solidFill>
                <a:latin typeface="Calibri"/>
              </a:rPr>
              <a:t>Extended backtest</a:t>
            </a:r>
            <a:r>
              <a:rPr sz="1200">
                <a:solidFill>
                  <a:srgbClr val="CBD5E1"/>
                </a:solidFill>
                <a:latin typeface="Calibri"/>
              </a:rPr>
              <a:t>: include 2020 COVID crash, 2022 rate shock for bear market validation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 of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14173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4864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CrossMamba is the best alpha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Highest Sharpe (2.10 / 2.36), lowest max DD (-5.93% / -9.20%), highest total return in both configurations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14173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Temporal modeling provides 2–3×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Both TST and CrossMamba outperform LightGBM dramatically — sequence information is a critical alpha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5303520" cy="14173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54864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Selective state-space &gt; Self-attention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CrossMamba's O(L) complexity and selective forgetting outperform TST's O(L²) attention, with a smaller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303520" cy="14173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54864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71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Long-biased captures equity premium + alpha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375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14L/7S achieves 30% annual return vs SPY 20%, with better risk-adjusted metrics across all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0560"/>
            <a:ext cx="5303520" cy="14173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54864" cy="1417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Risk management is load-bearing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Factor neutralization, vol targeting, and drawdown control keep all models within target vol despite different alpha profiles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480560"/>
            <a:ext cx="5303520" cy="141732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480560"/>
            <a:ext cx="54864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Naive ensembling can hurt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9834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Equal-weight blend underperforms best individual model when model quality is heterogeneous — quality &gt; quantity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201168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5102352"/>
            <a:ext cx="173736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CrossMamba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06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5029200"/>
            <a:ext cx="201168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5102352"/>
            <a:ext cx="173736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806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Best Sharpe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029200"/>
            <a:ext cx="201168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5102352"/>
            <a:ext cx="173736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+9.95%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5806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Annual Alpha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5029200"/>
            <a:ext cx="201168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5102352"/>
            <a:ext cx="173736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-9.20%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806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5029200"/>
            <a:ext cx="2011680" cy="109728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04120" y="5102352"/>
            <a:ext cx="1737360" cy="31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5257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131.84%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58064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Return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